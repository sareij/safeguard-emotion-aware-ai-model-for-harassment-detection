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302" r:id="rId2"/>
    <p:sldId id="258" r:id="rId3"/>
    <p:sldId id="259" r:id="rId4"/>
    <p:sldId id="299" r:id="rId5"/>
    <p:sldId id="294" r:id="rId6"/>
    <p:sldId id="261" r:id="rId7"/>
    <p:sldId id="283" r:id="rId8"/>
    <p:sldId id="262" r:id="rId9"/>
    <p:sldId id="287" r:id="rId10"/>
    <p:sldId id="284" r:id="rId11"/>
    <p:sldId id="285" r:id="rId12"/>
    <p:sldId id="286" r:id="rId13"/>
    <p:sldId id="288" r:id="rId14"/>
    <p:sldId id="264" r:id="rId15"/>
    <p:sldId id="265" r:id="rId16"/>
    <p:sldId id="300" r:id="rId17"/>
    <p:sldId id="266" r:id="rId18"/>
    <p:sldId id="267" r:id="rId19"/>
    <p:sldId id="268" r:id="rId20"/>
    <p:sldId id="289" r:id="rId21"/>
    <p:sldId id="290" r:id="rId22"/>
    <p:sldId id="291" r:id="rId23"/>
    <p:sldId id="292" r:id="rId24"/>
    <p:sldId id="293" r:id="rId25"/>
    <p:sldId id="270" r:id="rId26"/>
    <p:sldId id="271" r:id="rId27"/>
    <p:sldId id="301" r:id="rId28"/>
    <p:sldId id="30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EDAA9-00CF-4518-BB13-24D04F7DC237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4E56B-77C4-4D92-A727-9AA2ED6F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410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ICDDS59137.2023.10434694" TargetMode="External"/><Relationship Id="rId2" Type="http://schemas.openxmlformats.org/officeDocument/2006/relationships/hyperlink" Target="https://doi.org/10.1186/s40537-025-01090-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501.07816" TargetMode="External"/><Relationship Id="rId5" Type="http://schemas.openxmlformats.org/officeDocument/2006/relationships/hyperlink" Target="https://arxiv.org/abs/2305.13481" TargetMode="External"/><Relationship Id="rId4" Type="http://schemas.openxmlformats.org/officeDocument/2006/relationships/hyperlink" Target="https://www.ijisae.org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457200" y="1377281"/>
            <a:ext cx="8229600" cy="2074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IN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SafeGuard</a:t>
            </a:r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: Emotion-Aware AI Model for</a:t>
            </a:r>
            <a:b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Harassment Detection</a:t>
            </a:r>
            <a:b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sz="3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"/>
          <p:cNvSpPr txBox="1">
            <a:spLocks noGrp="1"/>
          </p:cNvSpPr>
          <p:nvPr>
            <p:ph type="body" idx="1"/>
          </p:nvPr>
        </p:nvSpPr>
        <p:spPr>
          <a:xfrm>
            <a:off x="298938" y="2873154"/>
            <a:ext cx="8229600" cy="27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Team Details: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Team Members:  </a:t>
            </a:r>
            <a:r>
              <a:rPr lang="en-US" sz="2100" dirty="0" err="1">
                <a:latin typeface="Times New Roman"/>
                <a:ea typeface="Times New Roman"/>
                <a:cs typeface="Times New Roman"/>
                <a:sym typeface="Times New Roman"/>
              </a:rPr>
              <a:t>S.Saranya</a:t>
            </a: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 ( 211423104591)</a:t>
            </a:r>
          </a:p>
          <a:p>
            <a:pPr marL="0" lvl="0" indent="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-US" sz="2100" dirty="0" err="1">
                <a:latin typeface="Times New Roman"/>
                <a:ea typeface="Times New Roman"/>
                <a:cs typeface="Times New Roman"/>
                <a:sym typeface="Times New Roman"/>
              </a:rPr>
              <a:t>R.Suruthika</a:t>
            </a: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 ( 211423104666)</a:t>
            </a:r>
          </a:p>
          <a:p>
            <a:pPr marL="0" lvl="0" indent="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Department: Computer Science and Engineering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80000"/>
              </a:lnSpc>
              <a:spcBef>
                <a:spcPts val="434"/>
              </a:spcBef>
              <a:buClr>
                <a:schemeClr val="dk1"/>
              </a:buClr>
              <a:buSzPts val="1960"/>
              <a:buNone/>
            </a:pP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Domain: Artificial Intelligence</a:t>
            </a:r>
          </a:p>
          <a:p>
            <a:pPr marL="0" lvl="0" indent="0">
              <a:lnSpc>
                <a:spcPct val="80000"/>
              </a:lnSpc>
              <a:spcBef>
                <a:spcPts val="434"/>
              </a:spcBef>
              <a:buClr>
                <a:schemeClr val="dk1"/>
              </a:buClr>
              <a:buSzPts val="1960"/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Coordinator</a:t>
            </a:r>
            <a:r>
              <a:rPr lang="en-IN" sz="2400" dirty="0"/>
              <a:t> </a:t>
            </a: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Name: </a:t>
            </a:r>
            <a:r>
              <a:rPr lang="en-US" sz="2100" dirty="0" err="1">
                <a:latin typeface="Times New Roman"/>
                <a:ea typeface="Times New Roman"/>
                <a:cs typeface="Times New Roman"/>
                <a:sym typeface="Times New Roman"/>
              </a:rPr>
              <a:t>Dr.M.Krishnamoorthy</a:t>
            </a:r>
            <a:endParaRPr lang="en-US"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80000"/>
              </a:lnSpc>
              <a:spcBef>
                <a:spcPts val="434"/>
              </a:spcBef>
              <a:buClr>
                <a:schemeClr val="dk1"/>
              </a:buClr>
              <a:buSzPts val="1960"/>
              <a:buNone/>
            </a:pP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Guide Name : </a:t>
            </a:r>
            <a:r>
              <a:rPr lang="en-US" sz="2100" dirty="0" err="1">
                <a:latin typeface="Times New Roman"/>
                <a:ea typeface="Times New Roman"/>
                <a:cs typeface="Times New Roman"/>
                <a:sym typeface="Times New Roman"/>
              </a:rPr>
              <a:t>Mrs.M.Dhivya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Type of Project: Research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Date: 29-10-2025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4" name="Google Shape;84;p1"/>
          <p:cNvGrpSpPr/>
          <p:nvPr/>
        </p:nvGrpSpPr>
        <p:grpSpPr>
          <a:xfrm>
            <a:off x="198205" y="44624"/>
            <a:ext cx="8747590" cy="1351554"/>
            <a:chOff x="174379" y="61222"/>
            <a:chExt cx="8747590" cy="833081"/>
          </a:xfrm>
        </p:grpSpPr>
        <p:pic>
          <p:nvPicPr>
            <p:cNvPr id="85" name="Google Shape;85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4379" y="61222"/>
              <a:ext cx="1809780" cy="8330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" descr="Anna University - Wikipe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15085" y="88372"/>
              <a:ext cx="1306884" cy="8059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68992" y="61222"/>
              <a:ext cx="5683309" cy="83308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2733"/>
            <a:ext cx="8229600" cy="4525963"/>
          </a:xfrm>
        </p:spPr>
        <p:txBody>
          <a:bodyPr wrap="square">
            <a:noAutofit/>
          </a:bodyPr>
          <a:lstStyle/>
          <a:p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model for emotion-aware harassment detection.</a:t>
            </a:r>
          </a:p>
          <a:p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fear, anger, and anxiety using audio and facial cues.</a:t>
            </a:r>
          </a:p>
          <a:p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CNN for deep learning emotion classification.</a:t>
            </a:r>
          </a:p>
          <a:p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high-risk emotional states early.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and video datasets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early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 for harassment incidents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women’s safety and social security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UN SDG 5.2 – Gender Equality and Women’s Safety.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to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spaces, workplaces, and transport systems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 wrap="square">
            <a:normAutofit fontScale="85000" lnSpcReduction="10000"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AI-based emotion recognition system.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distress emotions like fear, anger, and anxiety.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emotions into High, Medium, or Low risk.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CNN models trained on RAVDESS and CREMA-D datasets.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with accuracy, precision, recall, and F1-score.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deployment on low-power devices such as Raspberry 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4DE0-C406-3385-80AC-7A356C54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F2CB-A33C-D7B6-6AC9-284C8E45A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931C6F-7B6E-8E7B-3261-EF8BB354A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484190"/>
              </p:ext>
            </p:extLst>
          </p:nvPr>
        </p:nvGraphicFramePr>
        <p:xfrm>
          <a:off x="457200" y="1345222"/>
          <a:ext cx="8036170" cy="4998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234">
                  <a:extLst>
                    <a:ext uri="{9D8B030D-6E8A-4147-A177-3AD203B41FA5}">
                      <a16:colId xmlns:a16="http://schemas.microsoft.com/office/drawing/2014/main" val="3693727443"/>
                    </a:ext>
                  </a:extLst>
                </a:gridCol>
                <a:gridCol w="1607234">
                  <a:extLst>
                    <a:ext uri="{9D8B030D-6E8A-4147-A177-3AD203B41FA5}">
                      <a16:colId xmlns:a16="http://schemas.microsoft.com/office/drawing/2014/main" val="395182527"/>
                    </a:ext>
                  </a:extLst>
                </a:gridCol>
                <a:gridCol w="1607234">
                  <a:extLst>
                    <a:ext uri="{9D8B030D-6E8A-4147-A177-3AD203B41FA5}">
                      <a16:colId xmlns:a16="http://schemas.microsoft.com/office/drawing/2014/main" val="3459540933"/>
                    </a:ext>
                  </a:extLst>
                </a:gridCol>
                <a:gridCol w="1607234">
                  <a:extLst>
                    <a:ext uri="{9D8B030D-6E8A-4147-A177-3AD203B41FA5}">
                      <a16:colId xmlns:a16="http://schemas.microsoft.com/office/drawing/2014/main" val="3075873624"/>
                    </a:ext>
                  </a:extLst>
                </a:gridCol>
                <a:gridCol w="1607234">
                  <a:extLst>
                    <a:ext uri="{9D8B030D-6E8A-4147-A177-3AD203B41FA5}">
                      <a16:colId xmlns:a16="http://schemas.microsoft.com/office/drawing/2014/main" val="3209723750"/>
                    </a:ext>
                  </a:extLst>
                </a:gridCol>
              </a:tblGrid>
              <a:tr h="439616"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rPr dirty="0"/>
                        <a:t>S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t>Author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rPr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t>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rPr dirty="0"/>
                        <a:t>Result /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876420"/>
                  </a:ext>
                </a:extLst>
              </a:tr>
              <a:tr h="586154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S. Jena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Developing a Negative Speech Emotion Recognition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97%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60287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IEEE ICDDS,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Emotion Detection Using AdaBoost +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AdaBoost +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Improved anger/fear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65984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Wagh &amp; Sutar,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Enhanced Emotion Recognition for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Multimodal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96–97%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65064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I. Malik et al.,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Emotions Beyond 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Edge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Lightweight real-time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904179"/>
                  </a:ext>
                </a:extLst>
              </a:tr>
              <a:tr h="586154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Q. Ouyang,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Speech Emotion Detection Based on MFCC &amp; CNN-LSTM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CNN-LSTM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75% anger recognition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57519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R. Bhardwaj,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Audio-Visual Fusion for Emotion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CNN +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Improved multimodal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66758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A. Singh,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Real-Time Speech Emotion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MFCC +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High precision for fear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0655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K. Patel,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Face Emotion Detection for Safety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Deep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Accurate facial emotion cues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71993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P. Gupta,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Hybrid Audio-Video Model for Emotions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CNN + RNN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Increased robustness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0293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S. Kumar,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Human Emotion Recognition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CNN-based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Reliable distress 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672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976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A1AB-24D4-F661-AF3A-24BD4775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B8B445-B24B-38A0-4E02-2C752A208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498513"/>
              </p:ext>
            </p:extLst>
          </p:nvPr>
        </p:nvGraphicFramePr>
        <p:xfrm>
          <a:off x="677007" y="2590799"/>
          <a:ext cx="7684475" cy="29483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36895">
                  <a:extLst>
                    <a:ext uri="{9D8B030D-6E8A-4147-A177-3AD203B41FA5}">
                      <a16:colId xmlns:a16="http://schemas.microsoft.com/office/drawing/2014/main" val="2306488369"/>
                    </a:ext>
                  </a:extLst>
                </a:gridCol>
                <a:gridCol w="1536895">
                  <a:extLst>
                    <a:ext uri="{9D8B030D-6E8A-4147-A177-3AD203B41FA5}">
                      <a16:colId xmlns:a16="http://schemas.microsoft.com/office/drawing/2014/main" val="1976598992"/>
                    </a:ext>
                  </a:extLst>
                </a:gridCol>
                <a:gridCol w="1536895">
                  <a:extLst>
                    <a:ext uri="{9D8B030D-6E8A-4147-A177-3AD203B41FA5}">
                      <a16:colId xmlns:a16="http://schemas.microsoft.com/office/drawing/2014/main" val="9395471"/>
                    </a:ext>
                  </a:extLst>
                </a:gridCol>
                <a:gridCol w="1536895">
                  <a:extLst>
                    <a:ext uri="{9D8B030D-6E8A-4147-A177-3AD203B41FA5}">
                      <a16:colId xmlns:a16="http://schemas.microsoft.com/office/drawing/2014/main" val="2219384487"/>
                    </a:ext>
                  </a:extLst>
                </a:gridCol>
                <a:gridCol w="1536895">
                  <a:extLst>
                    <a:ext uri="{9D8B030D-6E8A-4147-A177-3AD203B41FA5}">
                      <a16:colId xmlns:a16="http://schemas.microsoft.com/office/drawing/2014/main" val="526141150"/>
                    </a:ext>
                  </a:extLst>
                </a:gridCol>
              </a:tblGrid>
              <a:tr h="58967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L. Zhao,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Cross-Corpus Speech Emotion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Transfer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Improved generalization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031130"/>
                  </a:ext>
                </a:extLst>
              </a:tr>
              <a:tr h="58967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M. Fernandez,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Multimodal Emotion Recognition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Best practices &amp; benchmarks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299201"/>
                  </a:ext>
                </a:extLst>
              </a:tr>
              <a:tr h="58967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H. Lee,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Attention-based Audio-Visual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CNN + Attention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Enhanced temporal fusion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96175"/>
                  </a:ext>
                </a:extLst>
              </a:tr>
              <a:tr h="58967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T. Ahmed,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Noise-Robust Speech Emotion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Data Augmentation +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Better noisy audio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651245"/>
                  </a:ext>
                </a:extLst>
              </a:tr>
              <a:tr h="58967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Y. Chen,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Lightweight Edge Models for Emotion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Pruning + Quantization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Feasible edge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98773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3E2391-0006-049A-5037-63AEC7E16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285459"/>
              </p:ext>
            </p:extLst>
          </p:nvPr>
        </p:nvGraphicFramePr>
        <p:xfrm>
          <a:off x="677008" y="2189285"/>
          <a:ext cx="7622930" cy="401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586">
                  <a:extLst>
                    <a:ext uri="{9D8B030D-6E8A-4147-A177-3AD203B41FA5}">
                      <a16:colId xmlns:a16="http://schemas.microsoft.com/office/drawing/2014/main" val="3944125586"/>
                    </a:ext>
                  </a:extLst>
                </a:gridCol>
                <a:gridCol w="1524586">
                  <a:extLst>
                    <a:ext uri="{9D8B030D-6E8A-4147-A177-3AD203B41FA5}">
                      <a16:colId xmlns:a16="http://schemas.microsoft.com/office/drawing/2014/main" val="611587091"/>
                    </a:ext>
                  </a:extLst>
                </a:gridCol>
                <a:gridCol w="1524586">
                  <a:extLst>
                    <a:ext uri="{9D8B030D-6E8A-4147-A177-3AD203B41FA5}">
                      <a16:colId xmlns:a16="http://schemas.microsoft.com/office/drawing/2014/main" val="2859194344"/>
                    </a:ext>
                  </a:extLst>
                </a:gridCol>
                <a:gridCol w="1524586">
                  <a:extLst>
                    <a:ext uri="{9D8B030D-6E8A-4147-A177-3AD203B41FA5}">
                      <a16:colId xmlns:a16="http://schemas.microsoft.com/office/drawing/2014/main" val="3670700310"/>
                    </a:ext>
                  </a:extLst>
                </a:gridCol>
                <a:gridCol w="1524586">
                  <a:extLst>
                    <a:ext uri="{9D8B030D-6E8A-4147-A177-3AD203B41FA5}">
                      <a16:colId xmlns:a16="http://schemas.microsoft.com/office/drawing/2014/main" val="1183735763"/>
                    </a:ext>
                  </a:extLst>
                </a:gridCol>
              </a:tblGrid>
              <a:tr h="401515"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rPr dirty="0"/>
                        <a:t>S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t>Author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rPr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t>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rPr dirty="0"/>
                        <a:t>Result /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1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67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746" y="1435222"/>
            <a:ext cx="8229600" cy="497437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surveillance systems today focus only on detecting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faces or movements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emotions.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emotional changes like fear or anger often appear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harassment incidents occur.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India alone, over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31,000 harassment cases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reported in 2022 (NCRB).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emotion-based monitoring, security systems fail to give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prevent incidents.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Issues: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emotion analysis in current surveillance.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awareness of human distress.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preventive response mechanisms</a:t>
            </a:r>
            <a:r>
              <a:rPr lang="en-US" sz="2400" dirty="0"/>
              <a:t>.</a:t>
            </a:r>
          </a:p>
          <a:p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42552-3F0A-5FF7-30AC-4F3756205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1c5d50c-c822-4e9c-b21d-b32728da97b3.png">
            <a:extLst>
              <a:ext uri="{FF2B5EF4-FFF2-40B4-BE49-F238E27FC236}">
                <a16:creationId xmlns:a16="http://schemas.microsoft.com/office/drawing/2014/main" id="{C254385D-8CA9-2A89-25B1-E28A394D5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5515" y="1600200"/>
            <a:ext cx="455441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09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COMPONENTS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Module → Preprocessing → CNN Model → Risk Mapping → Alert Output</a:t>
            </a:r>
          </a:p>
          <a:p>
            <a:pPr>
              <a:lnSpc>
                <a:spcPct val="150000"/>
              </a:lnSpc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TensorFlow,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OpenCV</a:t>
            </a:r>
          </a:p>
          <a:p>
            <a:pPr>
              <a:lnSpc>
                <a:spcPct val="150000"/>
              </a:lnSpc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 Capture audio/video → extract features → predict emotion → assign risk</a:t>
            </a:r>
          </a:p>
          <a:p>
            <a:pPr>
              <a:lnSpc>
                <a:spcPct val="150000"/>
              </a:lnSpc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Edge devices and CCTV integration supported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F4B94-7647-5F51-E6DF-F57E8E44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71637BA-6B20-8E77-34F6-24270C3187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979" y="1382469"/>
            <a:ext cx="1927821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0655E5-1EB0-6D7B-F4C7-6AC6443197F7}"/>
              </a:ext>
            </a:extLst>
          </p:cNvPr>
          <p:cNvSpPr txBox="1"/>
          <p:nvPr/>
        </p:nvSpPr>
        <p:spPr>
          <a:xfrm>
            <a:off x="677008" y="1421636"/>
            <a:ext cx="542485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logical flow shows how Safe Guard processes each input step by step to detect emotional distress.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starts from receiving user data and ends with generating alerts when high-risk emotions are detected.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Steps: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uploads voice or video clip.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 converted to spectrogram; video frames extracted.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Detection: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model predicts emotions (fear, anger, anxiety).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Mapping: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Classifies emotion into High, Medium, or Low risk.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Point: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High → Alert admin.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Medium/Low → Save report.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Display: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emotion type and risk level to the user.</a:t>
            </a:r>
          </a:p>
        </p:txBody>
      </p:sp>
    </p:spTree>
    <p:extLst>
      <p:ext uri="{BB962C8B-B14F-4D97-AF65-F5344CB8AC3E}">
        <p14:creationId xmlns:p14="http://schemas.microsoft.com/office/powerpoint/2010/main" val="400274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5534-EB4E-267C-CFE8-EDD7FA2F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USECASE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0400f8e0-a59f-4fae-b564-3cba9a804754.png">
            <a:extLst>
              <a:ext uri="{FF2B5EF4-FFF2-40B4-BE49-F238E27FC236}">
                <a16:creationId xmlns:a16="http://schemas.microsoft.com/office/drawing/2014/main" id="{0C9CFFC0-8E9F-581F-AE3D-9E8202145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7778" y="1600200"/>
            <a:ext cx="550844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842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7232-D496-E295-D25F-F3C654AB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4BCDE3-3E35-EF9F-A807-46E4F0D49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528" y="1600200"/>
            <a:ext cx="678894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302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C4FC-B8F5-05C2-C2E6-95DFBD2B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437de657-8914-4c7e-a215-b90feb70677e.png">
            <a:extLst>
              <a:ext uri="{FF2B5EF4-FFF2-40B4-BE49-F238E27FC236}">
                <a16:creationId xmlns:a16="http://schemas.microsoft.com/office/drawing/2014/main" id="{C8458CCE-93A7-6A6A-A53D-C62023413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6432" y="1600200"/>
            <a:ext cx="585567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63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455B-1F69-0CFC-808A-D1725C576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F48F9F-8F02-6643-17DC-A54114187CB2}"/>
              </a:ext>
            </a:extLst>
          </p:cNvPr>
          <p:cNvSpPr/>
          <p:nvPr/>
        </p:nvSpPr>
        <p:spPr>
          <a:xfrm>
            <a:off x="640080" y="2377439"/>
            <a:ext cx="3931920" cy="914400"/>
          </a:xfrm>
          <a:prstGeom prst="rect">
            <a:avLst/>
          </a:prstGeom>
          <a:solidFill>
            <a:srgbClr val="325A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Input 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FC5BDF-9114-20C4-AE97-B13BCB4E475C}"/>
              </a:ext>
            </a:extLst>
          </p:cNvPr>
          <p:cNvSpPr/>
          <p:nvPr/>
        </p:nvSpPr>
        <p:spPr>
          <a:xfrm>
            <a:off x="4754880" y="2377439"/>
            <a:ext cx="3931920" cy="914400"/>
          </a:xfrm>
          <a:prstGeom prst="rect">
            <a:avLst/>
          </a:prstGeom>
          <a:solidFill>
            <a:srgbClr val="467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Preprocessing 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09F628-17F4-6DFB-7AFB-91B9609C16A3}"/>
              </a:ext>
            </a:extLst>
          </p:cNvPr>
          <p:cNvSpPr/>
          <p:nvPr/>
        </p:nvSpPr>
        <p:spPr>
          <a:xfrm>
            <a:off x="640080" y="3474719"/>
            <a:ext cx="3931920" cy="914400"/>
          </a:xfrm>
          <a:prstGeom prst="rect">
            <a:avLst/>
          </a:prstGeom>
          <a:solidFill>
            <a:srgbClr val="5A96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CNN Model Module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D5644B-4293-81F9-FC0B-EE07DFDE3257}"/>
              </a:ext>
            </a:extLst>
          </p:cNvPr>
          <p:cNvSpPr/>
          <p:nvPr/>
        </p:nvSpPr>
        <p:spPr>
          <a:xfrm>
            <a:off x="4754880" y="3474719"/>
            <a:ext cx="3931920" cy="914400"/>
          </a:xfrm>
          <a:prstGeom prst="rect">
            <a:avLst/>
          </a:prstGeom>
          <a:solidFill>
            <a:srgbClr val="6EAAD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Risk Evaluation Module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00BB0B-ACF2-57AF-8227-03281A4BB9D9}"/>
              </a:ext>
            </a:extLst>
          </p:cNvPr>
          <p:cNvSpPr/>
          <p:nvPr/>
        </p:nvSpPr>
        <p:spPr>
          <a:xfrm>
            <a:off x="640080" y="4571998"/>
            <a:ext cx="3931920" cy="914400"/>
          </a:xfrm>
          <a:prstGeom prst="rect">
            <a:avLst/>
          </a:prstGeom>
          <a:solidFill>
            <a:srgbClr val="82BE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Output Module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778A8C-E931-6427-9D7F-A3D6B424CC3D}"/>
              </a:ext>
            </a:extLst>
          </p:cNvPr>
          <p:cNvSpPr/>
          <p:nvPr/>
        </p:nvSpPr>
        <p:spPr>
          <a:xfrm>
            <a:off x="4754880" y="4571998"/>
            <a:ext cx="3931920" cy="914400"/>
          </a:xfrm>
          <a:prstGeom prst="rect">
            <a:avLst/>
          </a:prstGeom>
          <a:solidFill>
            <a:srgbClr val="96D2E6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Data Storage Module</a:t>
            </a:r>
          </a:p>
        </p:txBody>
      </p:sp>
    </p:spTree>
    <p:extLst>
      <p:ext uri="{BB962C8B-B14F-4D97-AF65-F5344CB8AC3E}">
        <p14:creationId xmlns:p14="http://schemas.microsoft.com/office/powerpoint/2010/main" val="237300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Module: Capture audio and video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Noise removal, mel-spectrogram generation, frame extraction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 Module: Deep learning–based emotion detection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Evaluation: Map emotions to High/Medium/Low risk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Module: Display results and send admin alerts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Storage: Save reports and logs for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ALGORITHMS/METHODOLOGY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Convolutional Neural Network (CNN) for spectrogram/frame analysis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Trim silence, denoise, generate mel-spectrograms, resize frames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Pipeline: Conv2D + </a:t>
            </a:r>
            <a:r>
              <a:rPr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Dropout → Dense → </a:t>
            </a:r>
            <a:r>
              <a:rPr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Loss = Categorical Cross-Entropy; Optimizer = Adam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Mapping: Fear/Anger → High; Anxiety → Medium; Neutral/Happy → 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0D391-ACFA-2A14-5997-34723F928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0CA00-0326-52A8-2896-BC22995FF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SafeGuard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implemented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TensorFlow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training and emotion detection.  The model is trained on spectrogram data extracted from audio files and uses CNN layers for classification.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Pseudocode:</a:t>
            </a:r>
          </a:p>
          <a:p>
            <a:pPr marL="0" indent="0" fontAlgn="t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 fontAlgn="t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librosa.load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('audio.wav')  </a:t>
            </a:r>
          </a:p>
          <a:p>
            <a:pPr marL="0" indent="0" fontAlgn="t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librosa.feature.melspectrogram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(signal)  </a:t>
            </a:r>
          </a:p>
          <a:p>
            <a:pPr marL="0" indent="0" fontAlgn="t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tf.keras.models.load_model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('cnn_model.h5')  </a:t>
            </a:r>
          </a:p>
          <a:p>
            <a:pPr marL="0" indent="0" fontAlgn="t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(spec)</a:t>
            </a:r>
          </a:p>
          <a:p>
            <a:pPr marL="0" indent="0" fontAlgn="t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print(prediction)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code loads an audio clip, converts it to a spectrogram, predicts the emotion, and prints the result.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196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Datasets: RAVDESS and CREMA-D (train/test splits)</a:t>
            </a:r>
          </a:p>
          <a:p>
            <a:pPr>
              <a:lnSpc>
                <a:spcPct val="150000"/>
              </a:lnSpc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5-fold cross-validation</a:t>
            </a:r>
          </a:p>
          <a:p>
            <a:pPr>
              <a:lnSpc>
                <a:spcPct val="150000"/>
              </a:lnSpc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Types: Unit, Integration, End-to-end testing</a:t>
            </a:r>
          </a:p>
          <a:p>
            <a:pPr>
              <a:lnSpc>
                <a:spcPct val="150000"/>
              </a:lnSpc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Testing: Raspberry Pi performance checks</a:t>
            </a:r>
          </a:p>
          <a:p>
            <a:pPr>
              <a:lnSpc>
                <a:spcPct val="150000"/>
              </a:lnSpc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Robustness: Background noise, mixed speakers, varied lighting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&amp; VALIDATION TESTING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TC-01: Fear audio → Predict Fear → High Risk → Alert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TC-02: Anger video → Predict Anger → High Risk → Admin notified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TC-03: Neutral audio → Predict Neutral → Low Risk → No alert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TC-04: Anxiety audio → Predict Anxiety → Medium Risk → Log entry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TC-05: Noisy background → Maintain ≥85% accuracy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metrics: Accuracy, Precision, Recall, F1-score</a:t>
            </a:r>
          </a:p>
          <a:p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Observed: Accuracy ≈ 90–97%; Precision ≈ 92%; Recall ≈ 94%; F1 ≈ 93%</a:t>
            </a:r>
          </a:p>
          <a:p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Latency: 100–300 </a:t>
            </a:r>
            <a:r>
              <a:rPr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(GPU); 500–1500 </a:t>
            </a:r>
            <a:r>
              <a:rPr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(edge)</a:t>
            </a:r>
          </a:p>
          <a:p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size: ~20–60 MB; RAM during inference: ~2–4 GB</a:t>
            </a:r>
          </a:p>
          <a:p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Overlapped speech and anxiety-neutral confusions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2C754-3E59-E233-6AAA-4524F12C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B455FD-8995-3D74-9937-7F727B7CD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08" y="1708217"/>
            <a:ext cx="6102444" cy="26928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3203BF-D82F-6B27-7D99-809D02607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148" y="3102134"/>
            <a:ext cx="6102444" cy="340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08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A8FD3-39A9-72B4-A1C2-908B27FE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F98341-0B3D-B1F1-652F-130D1F812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678" y="1763640"/>
            <a:ext cx="6344535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58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0EB7-5B09-FAEC-8F6D-ADC9901C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36A14-79BC-D33C-0631-C5FC6EB4C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69" y="1784837"/>
            <a:ext cx="8184821" cy="380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13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09838-6671-DBB8-F362-CD19AF693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D5704-1F0D-815C-9FA9-BAEE4567E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61" y="2436024"/>
            <a:ext cx="8598877" cy="212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31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CEEF-17D0-CE1D-DA38-F58AA66B3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92E286-E8E9-4F4B-78B9-12A33A98F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183" y="1912937"/>
            <a:ext cx="4523225" cy="18739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6ADF4D-AA1F-480F-DD89-94F5A0A90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8" y="4200280"/>
            <a:ext cx="6213968" cy="187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11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 accurately classifies emotions linked to harassment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maps emotions to risk levels and triggers alerts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meets target thresholds for accuracy and F1-score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supports UN SDG 5.2 and improves women's safety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pilot deployment and extended real-world testing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on Raspberry Pi and integrate with live CCTV feeds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datasets: regional languages, diverse demographics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multimodal fusion with attention mechanisms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admin dashboard for alerts and analytics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Pursue research publications, patents, and agency collaboration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4234C-E59B-E91D-B603-E9FE78D5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02161-6349-9A95-12C3-802DA7629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/>
              <a:t> </a:t>
            </a:r>
            <a:r>
              <a:rPr lang="en-IN" dirty="0">
                <a:hlinkClick r:id="rId2"/>
              </a:rPr>
              <a:t>https://doi.org/10.1186/s40537-025-01090-0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>
                <a:hlinkClick r:id="rId3"/>
              </a:rPr>
              <a:t>https://doi.org/10.1109/ICDDS59137.2023.10434694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>
                <a:hlinkClick r:id="rId4"/>
              </a:rPr>
              <a:t>https://www.ijisae.org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>
                <a:hlinkClick r:id="rId5"/>
              </a:rPr>
              <a:t>https://arxiv.org/abs/2305.13481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>
                <a:hlinkClick r:id="rId6"/>
              </a:rPr>
              <a:t>https://arxiv.org/abs/2501.07816</a:t>
            </a: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870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;p25">
            <a:extLst>
              <a:ext uri="{FF2B5EF4-FFF2-40B4-BE49-F238E27FC236}">
                <a16:creationId xmlns:a16="http://schemas.microsoft.com/office/drawing/2014/main" id="{5875261E-BCE9-C722-FEAC-218D42848161}"/>
              </a:ext>
            </a:extLst>
          </p:cNvPr>
          <p:cNvSpPr txBox="1">
            <a:spLocks/>
          </p:cNvSpPr>
          <p:nvPr/>
        </p:nvSpPr>
        <p:spPr>
          <a:xfrm>
            <a:off x="1511660" y="1052736"/>
            <a:ext cx="61206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237;p25">
            <a:extLst>
              <a:ext uri="{FF2B5EF4-FFF2-40B4-BE49-F238E27FC236}">
                <a16:creationId xmlns:a16="http://schemas.microsoft.com/office/drawing/2014/main" id="{7DD171BF-E2B0-2A8C-3197-6720E08B37F3}"/>
              </a:ext>
            </a:extLst>
          </p:cNvPr>
          <p:cNvSpPr txBox="1">
            <a:spLocks/>
          </p:cNvSpPr>
          <p:nvPr/>
        </p:nvSpPr>
        <p:spPr>
          <a:xfrm>
            <a:off x="2046548" y="2564904"/>
            <a:ext cx="5050904" cy="265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dk1"/>
              </a:buClr>
              <a:buSzPts val="32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Question &amp; Answers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9016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1327</Words>
  <Application>Microsoft Office PowerPoint</Application>
  <PresentationFormat>On-screen Show (4:3)</PresentationFormat>
  <Paragraphs>219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Times New Roman</vt:lpstr>
      <vt:lpstr>Office Theme</vt:lpstr>
      <vt:lpstr>SafeGuard: Emotion-Aware AI Model for Harassment Detection </vt:lpstr>
      <vt:lpstr>INTRODUCTION</vt:lpstr>
      <vt:lpstr>OBJECTIVE</vt:lpstr>
      <vt:lpstr>LITERATURE SURVEY</vt:lpstr>
      <vt:lpstr>LITERATURE SURVEY</vt:lpstr>
      <vt:lpstr>PROBLEM STATEMENT</vt:lpstr>
      <vt:lpstr>ARCHITECTURE DIAGRAM</vt:lpstr>
      <vt:lpstr>ARCHITECTURE COMPONENTS</vt:lpstr>
      <vt:lpstr>FLOW DIAGRAM</vt:lpstr>
      <vt:lpstr>USECASE DIAGRAM</vt:lpstr>
      <vt:lpstr>CLASS DIAGRAM</vt:lpstr>
      <vt:lpstr>ACTIVITY DIAGRAM</vt:lpstr>
      <vt:lpstr>MODULES</vt:lpstr>
      <vt:lpstr>MODULE DESCRIPTION</vt:lpstr>
      <vt:lpstr>ALGORITHMS/METHODOLOGY</vt:lpstr>
      <vt:lpstr>IMPLEMENTATION</vt:lpstr>
      <vt:lpstr>TESTING</vt:lpstr>
      <vt:lpstr>TEST CASES &amp; VALIDATION TESTING</vt:lpstr>
      <vt:lpstr>PERFORMANCE ANALYSIS</vt:lpstr>
      <vt:lpstr>SCREENSHOTS</vt:lpstr>
      <vt:lpstr>SCREENSHOTS</vt:lpstr>
      <vt:lpstr>SCREENSHOTS</vt:lpstr>
      <vt:lpstr>SCREENSHOTS</vt:lpstr>
      <vt:lpstr>SCREENSHOTS</vt:lpstr>
      <vt:lpstr>CONCLUSION</vt:lpstr>
      <vt:lpstr>FUTURE WORK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saranya</dc:creator>
  <cp:keywords/>
  <dc:description>generated using python-pptx</dc:description>
  <cp:lastModifiedBy>s9158906@outlook.com</cp:lastModifiedBy>
  <cp:revision>3</cp:revision>
  <dcterms:created xsi:type="dcterms:W3CDTF">2013-01-27T09:14:16Z</dcterms:created>
  <dcterms:modified xsi:type="dcterms:W3CDTF">2025-10-27T04:51:01Z</dcterms:modified>
  <cp:category/>
</cp:coreProperties>
</file>